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8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ube-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2834640" cy="8766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874519"/>
            <a:ext cx="77724" cy="141732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FLUXO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697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9FD8C8"/>
                </a:solidFill>
                <a:latin typeface="Segoe UI"/>
              </a:rPr>
              <a:t>Sistema Bancário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21868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Projeto de Software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3913632"/>
            <a:ext cx="5120640" cy="1828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160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FD8C8"/>
                </a:solidFill>
                <a:latin typeface="Segoe UI"/>
              </a:rPr>
              <a:t>GRUPO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4526280"/>
            <a:ext cx="6766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Gabriel Henrique  ·  João Alfredo  ·  Harttur Oliveira Pimenta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Eduardo Henrique  ·  Marcus Vinicius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544068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D8C8"/>
                </a:solidFill>
                <a:latin typeface="Segoe UI"/>
              </a:rPr>
              <a:t>Prof. Marcus Colantoni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5A6B7B"/>
                </a:solidFill>
                <a:latin typeface="Segoe UI"/>
              </a:rPr>
              <a:t>Apresentação — 03 de setembro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965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FD8C8"/>
                </a:solidFill>
                <a:latin typeface="Segoe UI"/>
              </a:rPr>
              <a:t>STACK DO PROJETO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423160"/>
            <a:ext cx="2468880" cy="475488"/>
          </a:xfrm>
          <a:prstGeom prst="roundRect">
            <a:avLst>
              <a:gd name="adj" fmla="val 35000"/>
            </a:avLst>
          </a:prstGeom>
          <a:solidFill>
            <a:srgbClr val="26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423160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Backend — Laravel (PHP)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999232"/>
            <a:ext cx="2468880" cy="475488"/>
          </a:xfrm>
          <a:prstGeom prst="roundRect">
            <a:avLst>
              <a:gd name="adj" fmla="val 35000"/>
            </a:avLst>
          </a:prstGeom>
          <a:solidFill>
            <a:srgbClr val="26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999232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Web — Blade + Tailwind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575304"/>
            <a:ext cx="2468880" cy="475488"/>
          </a:xfrm>
          <a:prstGeom prst="roundRect">
            <a:avLst>
              <a:gd name="adj" fmla="val 35000"/>
            </a:avLst>
          </a:prstGeom>
          <a:solidFill>
            <a:srgbClr val="26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575304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Mobile — Flutter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151376"/>
            <a:ext cx="2468880" cy="475488"/>
          </a:xfrm>
          <a:prstGeom prst="roundRect">
            <a:avLst>
              <a:gd name="adj" fmla="val 35000"/>
            </a:avLst>
          </a:prstGeom>
          <a:solidFill>
            <a:srgbClr val="26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151376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Banco — 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727448"/>
            <a:ext cx="2468880" cy="475488"/>
          </a:xfrm>
          <a:prstGeom prst="roundRect">
            <a:avLst>
              <a:gd name="adj" fmla="val 35000"/>
            </a:avLst>
          </a:prstGeom>
          <a:solidFill>
            <a:srgbClr val="26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727448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Nuvem — 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80644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Checkpoint 1 + avanços do CP2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D2057"/>
                </a:solidFill>
                <a:latin typeface="Segoe UI"/>
              </a:rPr>
              <a:t>Fluxo em um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Do problema à entrega: o que já foi construído no Checkpoint 1 e o que avançou no Checkpoint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0078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94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Por que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0545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Banco digital simples, transparente e auditável — conta, Pix, cartões e pagamentos no celular.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36192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36192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70078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2494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Casos de 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50545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13 atores, 6 «include» e 5 «extend» em 5 diagramas (itens 1, 3, 4, 5 e 7).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536192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536192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70078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494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Requisitos funcionais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50545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28 Must · 20 Should · 4 Could, mais 39 RNF (ISO 25010) e 17 regras de negócio.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10128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10128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023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Tarefas no cronograma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7939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LibreProject: 23/02 a 03/12, 4 marcos, 6 recursos e 1.834 h distribuídas.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310128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310128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4747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4023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Tecnologias-chave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427939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Laravel · Blade + Tailwind · Flutter · PostgreSQL · Render (deploy automático).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3310128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9872" y="3310128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34747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4023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Entidades do banco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27939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Mínimo exigido: 8. Núcleo contábil por partidas dobradas — saldo nunca é editado.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084064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084064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248656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79729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Requisitos no CP2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605332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+24 RF: verificação em dois fatores, retirada, assinatura e auditoria imutável.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5084064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5084064"/>
            <a:ext cx="68580" cy="157276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81144" y="5248656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6F5C"/>
                </a:solidFill>
                <a:latin typeface="Segoe UI"/>
              </a:rPr>
              <a:t>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579729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Novos diagramas UML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1144" y="605332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Sequência, classes, componentes, implantação, atividades e fluxo da auditoria.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2" y="5084064"/>
            <a:ext cx="3520440" cy="157276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19872" y="5084064"/>
            <a:ext cx="68580" cy="15727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5248656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7616" y="579729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Operações auditadas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7616" y="605332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Trilha append-only com hash encadeado: nada se altera, nada se apaga.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Fluxo — Sistema Bancário Digital  ·  Projeto de Software II  ·  UNIUBE  ·  Grupo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28232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D2057"/>
                </a:solidFill>
                <a:latin typeface="Segoe UI"/>
              </a:rPr>
              <a:t>Por que o Fluxo existe?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Problema, causas e a resposta que o sistema dá para cada 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64240" cy="841248"/>
          </a:xfrm>
          <a:prstGeom prst="roundRect">
            <a:avLst>
              <a:gd name="adj" fmla="val 16000"/>
            </a:avLst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82296" cy="84124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O usuário não tem uma plataforma bancária única, transparente e segura, com rastreio de cada operação.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70048"/>
            <a:ext cx="4160520" cy="512064"/>
          </a:xfrm>
          <a:prstGeom prst="roundRect">
            <a:avLst>
              <a:gd name="adj" fmla="val 35000"/>
            </a:avLst>
          </a:prstGeom>
          <a:solidFill>
            <a:srgbClr val="FD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670048"/>
            <a:ext cx="4160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3261E"/>
                </a:solidFill>
                <a:latin typeface="Segoe UI"/>
              </a:rPr>
              <a:t>Burocracia e espera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67004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6F5C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670048"/>
            <a:ext cx="5989320" cy="512064"/>
          </a:xfrm>
          <a:prstGeom prst="roundRect">
            <a:avLst>
              <a:gd name="adj" fmla="val 35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670048"/>
            <a:ext cx="5989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F5C"/>
                </a:solidFill>
                <a:latin typeface="Segoe UI"/>
              </a:rPr>
              <a:t>Conta aberta em minutos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83280"/>
            <a:ext cx="4160520" cy="512064"/>
          </a:xfrm>
          <a:prstGeom prst="roundRect">
            <a:avLst>
              <a:gd name="adj" fmla="val 35000"/>
            </a:avLst>
          </a:prstGeom>
          <a:solidFill>
            <a:srgbClr val="FD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83280"/>
            <a:ext cx="4160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3261E"/>
                </a:solidFill>
                <a:latin typeface="Segoe UI"/>
              </a:rPr>
              <a:t>Tarifa opaca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383280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6F5C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383280"/>
            <a:ext cx="5989320" cy="512064"/>
          </a:xfrm>
          <a:prstGeom prst="roundRect">
            <a:avLst>
              <a:gd name="adj" fmla="val 35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3383280"/>
            <a:ext cx="5989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F5C"/>
                </a:solidFill>
                <a:latin typeface="Segoe UI"/>
              </a:rPr>
              <a:t>Custo visível antes de confirmar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4160520" cy="512064"/>
          </a:xfrm>
          <a:prstGeom prst="roundRect">
            <a:avLst>
              <a:gd name="adj" fmla="val 35000"/>
            </a:avLst>
          </a:prstGeom>
          <a:solidFill>
            <a:srgbClr val="FD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96512"/>
            <a:ext cx="4160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3261E"/>
                </a:solidFill>
                <a:latin typeface="Segoe UI"/>
              </a:rPr>
              <a:t>Sem controle no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096512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6F5C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096512"/>
            <a:ext cx="5989320" cy="512064"/>
          </a:xfrm>
          <a:prstGeom prst="roundRect">
            <a:avLst>
              <a:gd name="adj" fmla="val 35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4096512"/>
            <a:ext cx="5989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F5C"/>
                </a:solidFill>
                <a:latin typeface="Segoe UI"/>
              </a:rPr>
              <a:t>Limites, cartões e 2FA pelo cliente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09744"/>
            <a:ext cx="4160520" cy="512064"/>
          </a:xfrm>
          <a:prstGeom prst="roundRect">
            <a:avLst>
              <a:gd name="adj" fmla="val 35000"/>
            </a:avLst>
          </a:prstGeom>
          <a:solidFill>
            <a:srgbClr val="FD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809744"/>
            <a:ext cx="4160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3261E"/>
                </a:solidFill>
                <a:latin typeface="Segoe UI"/>
              </a:rPr>
              <a:t>Sem rastreabilidade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809744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6F5C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4809744"/>
            <a:ext cx="5989320" cy="512064"/>
          </a:xfrm>
          <a:prstGeom prst="roundRect">
            <a:avLst>
              <a:gd name="adj" fmla="val 35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4809744"/>
            <a:ext cx="5989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F5C"/>
                </a:solidFill>
                <a:latin typeface="Segoe UI"/>
              </a:rPr>
              <a:t>Trilha imutável + partidas dobradas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22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42432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D2057"/>
                </a:solidFill>
                <a:latin typeface="Segoe UI"/>
              </a:rPr>
              <a:t>Resultado esperado:  conta sem agência  ·  custo previsível  ·  operação segura com 2FA  ·  saldo sempre igual ao extrato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Fluxo — Sistema Bancário Digital  ·  Projeto de Software II  ·  UNIUBE  ·  Grupo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28232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D2057"/>
                </a:solidFill>
                <a:latin typeface="Segoe UI"/>
              </a:rPr>
              <a:t>Diagramas de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Cinco diagramas exigidos no item 4.3 — 1, 3, 4, 5 e 7 — com 38 casos de uso e 13 atores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cd-01-acesso-e-co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58" y="1417320"/>
            <a:ext cx="3180980" cy="169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1638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D2057"/>
                </a:solidFill>
                <a:latin typeface="Segoe UI"/>
              </a:rPr>
              <a:t>1 — Acesso e Conta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19856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B"/>
                </a:solidFill>
                <a:latin typeface="Segoe UI"/>
              </a:rPr>
              <a:t>UC01–UC08 · RF01–RF12</a:t>
            </a:r>
          </a:p>
        </p:txBody>
      </p:sp>
      <p:pic>
        <p:nvPicPr>
          <p:cNvPr id="9" name="Picture 8" descr="ucd-03-movimenta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130" y="1417320"/>
            <a:ext cx="318098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31638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D2057"/>
                </a:solidFill>
                <a:latin typeface="Segoe UI"/>
              </a:rPr>
              <a:t>3 — Movimentações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419856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B"/>
                </a:solidFill>
                <a:latin typeface="Segoe UI"/>
              </a:rPr>
              <a:t>UC09–UC16 · RF13–RF26</a:t>
            </a:r>
          </a:p>
        </p:txBody>
      </p:sp>
      <p:pic>
        <p:nvPicPr>
          <p:cNvPr id="12" name="Picture 11" descr="ucd-04-carto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602" y="1417320"/>
            <a:ext cx="3180980" cy="1691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19872" y="31638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D2057"/>
                </a:solidFill>
                <a:latin typeface="Segoe UI"/>
              </a:rPr>
              <a:t>4 — Cartões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419856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B"/>
                </a:solidFill>
                <a:latin typeface="Segoe UI"/>
              </a:rPr>
              <a:t>UC17–UC24 · RF27–RF35</a:t>
            </a:r>
          </a:p>
        </p:txBody>
      </p:sp>
      <p:pic>
        <p:nvPicPr>
          <p:cNvPr id="15" name="Picture 14" descr="ucd-05-pagament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682779"/>
            <a:ext cx="3520440" cy="15498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535838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D2057"/>
                </a:solidFill>
                <a:latin typeface="Segoe UI"/>
              </a:rPr>
              <a:t>5 — Pagamentos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14416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B"/>
                </a:solidFill>
                <a:latin typeface="Segoe UI"/>
              </a:rPr>
              <a:t>UC25–UC30 · RF36–RF42</a:t>
            </a:r>
          </a:p>
        </p:txBody>
      </p:sp>
      <p:pic>
        <p:nvPicPr>
          <p:cNvPr id="18" name="Picture 17" descr="ucd-07-administrac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130" y="3611880"/>
            <a:ext cx="3180980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43400" y="535838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D2057"/>
                </a:solidFill>
                <a:latin typeface="Segoe UI"/>
              </a:rPr>
              <a:t>7 — Administração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614416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B"/>
                </a:solidFill>
                <a:latin typeface="Segoe UI"/>
              </a:rPr>
              <a:t>UC31–UC38 · RF43–RF52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6118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3611880"/>
            <a:ext cx="68580" cy="169164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377647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F6F5C"/>
                </a:solidFill>
                <a:latin typeface="Segoe UI"/>
              </a:rPr>
              <a:t>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8679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casos de uso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427939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F6F5C"/>
                </a:solidFill>
                <a:latin typeface="Segoe UI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43708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atores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78231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F6F5C"/>
                </a:solidFill>
                <a:latin typeface="Segoe U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48737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relações «include» e «extend»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Fluxo — Sistema Bancário Digital  ·  Projeto de Software II  ·  UNIUBE  ·  Grupo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28232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D2057"/>
                </a:solidFill>
                <a:latin typeface="Segoe UI"/>
              </a:rPr>
              <a:t>Quadro de gestão das atividades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LibreProject — 95 tarefas, 6 recursos e 1.834 h entre 23/02 e 03/12/2026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ntt-resu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772400" cy="29228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572768"/>
            <a:ext cx="3108960" cy="129844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572768"/>
            <a:ext cx="68580" cy="1298448"/>
          </a:xfrm>
          <a:prstGeom prst="rect">
            <a:avLst/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87384" y="173736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057"/>
                </a:solidFill>
                <a:latin typeface="Segoe UI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7384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tarefas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254203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23/02 a 03/12/2026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3017520"/>
            <a:ext cx="3108960" cy="1298448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3017520"/>
            <a:ext cx="68580" cy="1298448"/>
          </a:xfrm>
          <a:prstGeom prst="rect">
            <a:avLst/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87384" y="3182112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057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384" y="373075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430"/>
                </a:solidFill>
                <a:latin typeface="Segoe UI"/>
              </a:rPr>
              <a:t>marcos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3986784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Segoe UI"/>
              </a:rPr>
              <a:t>CP1 · CP2 · CP3 · CP4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5262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5A6B7B"/>
                </a:solidFill>
                <a:latin typeface="Segoe UI"/>
              </a:rPr>
              <a:t>MARCOS E PONTUAÇÃO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4864608"/>
            <a:ext cx="960120" cy="329184"/>
          </a:xfrm>
          <a:prstGeom prst="roundRect">
            <a:avLst>
              <a:gd name="adj" fmla="val 35000"/>
            </a:avLst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864608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03/09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91032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B2430"/>
                </a:solidFill>
                <a:latin typeface="Segoe UI"/>
              </a:rPr>
              <a:t>CP1 — 10 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5266944"/>
            <a:ext cx="960120" cy="329184"/>
          </a:xfrm>
          <a:prstGeom prst="roundRect">
            <a:avLst>
              <a:gd name="adj" fmla="val 35000"/>
            </a:avLst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5266944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17/09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53126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B2430"/>
                </a:solidFill>
                <a:latin typeface="Segoe UI"/>
              </a:rPr>
              <a:t>CP2 — 15 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5669280"/>
            <a:ext cx="960120" cy="329184"/>
          </a:xfrm>
          <a:prstGeom prst="roundRect">
            <a:avLst>
              <a:gd name="adj" fmla="val 35000"/>
            </a:avLst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5669280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22/10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57150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B2430"/>
                </a:solidFill>
                <a:latin typeface="Segoe UI"/>
              </a:rPr>
              <a:t>CP3 — 10 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6071616"/>
            <a:ext cx="960120" cy="329184"/>
          </a:xfrm>
          <a:prstGeom prst="roundRect">
            <a:avLst>
              <a:gd name="adj" fmla="val 35000"/>
            </a:avLst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6071616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03/12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611733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B2430"/>
                </a:solidFill>
                <a:latin typeface="Segoe UI"/>
              </a:rPr>
              <a:t>CP4 — 20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Fluxo — Sistema Bancário Digital  ·  Projeto de Software II  ·  UNIUBE  ·  Grupo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28232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D2057"/>
                </a:solidFill>
                <a:latin typeface="Segoe UI"/>
              </a:rPr>
              <a:t>Levantamento de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Técnicas: análise de concorrentes, entrevista com usuário-tipo, análise documental e priorização MoSCoW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440680" cy="461772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440680" cy="475488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FUNCIONAIS — 52 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Acesso e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231136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6F5C"/>
                </a:solidFill>
                <a:latin typeface="Segoe UI"/>
              </a:rPr>
              <a:t>RF01–RF12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60320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0662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Movimentações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70662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6F5C"/>
                </a:solidFill>
                <a:latin typeface="Segoe UI"/>
              </a:rPr>
              <a:t>RF13–RF26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035808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8211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Cartões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18211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6F5C"/>
                </a:solidFill>
                <a:latin typeface="Segoe UI"/>
              </a:rPr>
              <a:t>RF27–RF35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511296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Pagamentos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6576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6F5C"/>
                </a:solidFill>
                <a:latin typeface="Segoe UI"/>
              </a:rPr>
              <a:t>RF36–RF42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986784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330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Administração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133088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6F5C"/>
                </a:solidFill>
                <a:latin typeface="Segoe UI"/>
              </a:rPr>
              <a:t>RF43–RF52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462272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A6B7B"/>
                </a:solidFill>
                <a:latin typeface="Segoe UI"/>
              </a:rPr>
              <a:t>Prioridade MoSCoW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047488"/>
            <a:ext cx="1463040" cy="384048"/>
          </a:xfrm>
          <a:prstGeom prst="roundRect">
            <a:avLst>
              <a:gd name="adj" fmla="val 35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4748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6F5C"/>
                </a:solidFill>
                <a:latin typeface="Segoe UI"/>
              </a:rPr>
              <a:t>28 Must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50592" y="5047488"/>
            <a:ext cx="1463040" cy="384048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0592" y="504748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430"/>
                </a:solidFill>
                <a:latin typeface="Segoe UI"/>
              </a:rPr>
              <a:t>20 Should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32504" y="5047488"/>
            <a:ext cx="1463040" cy="384048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32504" y="504748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5A6B7B"/>
                </a:solidFill>
                <a:latin typeface="Segoe UI"/>
              </a:rPr>
              <a:t>4 Could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961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B"/>
                </a:solidFill>
                <a:latin typeface="Segoe UI"/>
              </a:rPr>
              <a:t>Ex.: RF18 transferência Pix · RF27 cartão virtual · RF36 pagar boleto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1572768"/>
            <a:ext cx="5440680" cy="461772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572768"/>
            <a:ext cx="5440680" cy="475488"/>
          </a:xfrm>
          <a:prstGeom prst="rect">
            <a:avLst/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1691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NÃO FUNCIONAIS — 39 RNF (ISO/IEC 25010)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4" y="223113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Desempenho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1784" y="2231136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D2057"/>
                </a:solidFill>
                <a:latin typeface="Segoe UI"/>
              </a:rPr>
              <a:t>RNF01–RNF05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01384" y="2560320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4" y="263347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Segurança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1784" y="263347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D2057"/>
                </a:solidFill>
                <a:latin typeface="Segoe UI"/>
              </a:rPr>
              <a:t>RNF06–RNF14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01384" y="2962656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1384" y="303580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Confiabilidade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3035808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D2057"/>
                </a:solidFill>
                <a:latin typeface="Segoe UI"/>
              </a:rPr>
              <a:t>RNF15–RNF20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01384" y="3364992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01384" y="343814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Usabilidade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1784" y="34381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D2057"/>
                </a:solidFill>
                <a:latin typeface="Segoe UI"/>
              </a:rPr>
              <a:t>RNF21–RNF25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01384" y="3767328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4" y="384048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Manutenibilidade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384048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D2057"/>
                </a:solidFill>
                <a:latin typeface="Segoe UI"/>
              </a:rPr>
              <a:t>RNF26–RNF32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01384" y="4169664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1384" y="424281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430"/>
                </a:solidFill>
                <a:latin typeface="Segoe UI"/>
              </a:rPr>
              <a:t>Restrições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1784" y="4242816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D2057"/>
                </a:solidFill>
                <a:latin typeface="Segoe UI"/>
              </a:rPr>
              <a:t>RNF33–RNF39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01384" y="4572000"/>
            <a:ext cx="4892040" cy="9144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01384" y="46817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A6B7B"/>
                </a:solidFill>
                <a:latin typeface="Segoe UI"/>
              </a:rPr>
              <a:t>17 regras de negócio — exemplos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01384" y="5029200"/>
            <a:ext cx="777240" cy="329184"/>
          </a:xfrm>
          <a:prstGeom prst="roundRect">
            <a:avLst>
              <a:gd name="adj" fmla="val 35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01384" y="5029200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RN02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5065776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B2430"/>
                </a:solidFill>
                <a:latin typeface="Segoe UI"/>
              </a:rPr>
              <a:t>saldo = soma dos lançamentos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01384" y="5449824"/>
            <a:ext cx="777240" cy="329184"/>
          </a:xfrm>
          <a:prstGeom prst="roundRect">
            <a:avLst>
              <a:gd name="adj" fmla="val 35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5449824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RN04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5486400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B2430"/>
                </a:solidFill>
                <a:latin typeface="Segoe UI"/>
              </a:rPr>
              <a:t>não existe saldo negativo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01384" y="5870448"/>
            <a:ext cx="777240" cy="329184"/>
          </a:xfrm>
          <a:prstGeom prst="roundRect">
            <a:avLst>
              <a:gd name="adj" fmla="val 35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01384" y="5870448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RN07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5907024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B2430"/>
                </a:solidFill>
                <a:latin typeface="Segoe UI"/>
              </a:rPr>
              <a:t>limite noturno de R$ 1.000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Fluxo — Sistema Bancário Digital  ·  Projeto de Software II  ·  UNIUBE  ·  Grupo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28232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D2057"/>
                </a:solidFill>
                <a:latin typeface="Segoe UI"/>
              </a:rPr>
              <a:t>Checkpoint 2 — o que já avançamos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Novos diagramas e requisitos: verificação em dois fatores, retirada, assinatura e log de auditoria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6257"/>
            <a:ext cx="3657600" cy="27277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89204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D2057"/>
                </a:solidFill>
                <a:latin typeface="Segoe UI"/>
              </a:rPr>
              <a:t>Classes — assinatura e retirada</a:t>
            </a:r>
          </a:p>
        </p:txBody>
      </p:sp>
      <p:pic>
        <p:nvPicPr>
          <p:cNvPr id="8" name="Picture 7" descr="seq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924" y="1572768"/>
            <a:ext cx="3285128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61688" y="489204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D2057"/>
                </a:solidFill>
                <a:latin typeface="Segoe UI"/>
              </a:rPr>
              <a:t>Sequência — retirada com 2FA</a:t>
            </a:r>
          </a:p>
        </p:txBody>
      </p:sp>
      <p:pic>
        <p:nvPicPr>
          <p:cNvPr id="10" name="Picture 9" descr="aud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088224"/>
            <a:ext cx="3657600" cy="21237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56448" y="489204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D2057"/>
                </a:solidFill>
                <a:latin typeface="Segoe UI"/>
              </a:rPr>
              <a:t>Log de auditoria imutável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58384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5541264"/>
            <a:ext cx="2651760" cy="475488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541264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F5C"/>
                </a:solidFill>
                <a:latin typeface="Segoe UI"/>
              </a:rPr>
              <a:t>+24  novos requisitos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5541264"/>
            <a:ext cx="2651760" cy="475488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5541264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F5C"/>
                </a:solidFill>
                <a:latin typeface="Segoe UI"/>
              </a:rPr>
              <a:t>+18  diagramas SVG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5541264"/>
            <a:ext cx="2651760" cy="475488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5541264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F5C"/>
                </a:solidFill>
                <a:latin typeface="Segoe UI"/>
              </a:rPr>
              <a:t>27  regras de negócio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5541264"/>
            <a:ext cx="2651760" cy="475488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3688" y="5541264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F5C"/>
                </a:solidFill>
                <a:latin typeface="Segoe UI"/>
              </a:rPr>
              <a:t>48  casos de uso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Fluxo — Sistema Bancário Digital  ·  Projeto de Software II  ·  UNIUBE  ·  Grupo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28232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D2057"/>
                </a:solidFill>
                <a:latin typeface="Segoe U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Do Checkpoint 1 até a entrega final em 03/12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64240" cy="18288"/>
          </a:xfrm>
          <a:prstGeom prst="rect">
            <a:avLst/>
          </a:prstGeom>
          <a:solidFill>
            <a:srgbClr val="D6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82296" cy="9144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75104"/>
            <a:ext cx="1691640" cy="438912"/>
          </a:xfrm>
          <a:prstGeom prst="roundRect">
            <a:avLst>
              <a:gd name="adj" fmla="val 35000"/>
            </a:avLst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16916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Setembro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39112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B2430"/>
                </a:solidFill>
                <a:latin typeface="Segoe UI"/>
              </a:rPr>
              <a:t>Migration de auditoria, models de Assinatura e Retirada, tela de 2FA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6352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816352"/>
            <a:ext cx="82296" cy="9144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3054096"/>
            <a:ext cx="1691640" cy="438912"/>
          </a:xfrm>
          <a:prstGeom prst="roundRect">
            <a:avLst>
              <a:gd name="adj" fmla="val 35000"/>
            </a:avLst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54096"/>
            <a:ext cx="16916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Outubro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118104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B2430"/>
                </a:solidFill>
                <a:latin typeface="Segoe UI"/>
              </a:rPr>
              <a:t>App Flutter consumindo a API, motor antifraude e comprovante em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95344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895344"/>
            <a:ext cx="82296" cy="9144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4133088"/>
            <a:ext cx="1691640" cy="438912"/>
          </a:xfrm>
          <a:prstGeom prst="roundRect">
            <a:avLst>
              <a:gd name="adj" fmla="val 35000"/>
            </a:avLst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133088"/>
            <a:ext cx="16916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Novembro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97096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B2430"/>
                </a:solidFill>
                <a:latin typeface="Segoe UI"/>
              </a:rPr>
              <a:t>Deploy no Render, testes automatizados e manual do usuário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74336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 w="1270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974336"/>
            <a:ext cx="82296" cy="9144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5212080"/>
            <a:ext cx="1691640" cy="438912"/>
          </a:xfrm>
          <a:prstGeom prst="roundRect">
            <a:avLst>
              <a:gd name="adj" fmla="val 35000"/>
            </a:avLst>
          </a:prstGeom>
          <a:solidFill>
            <a:srgbClr val="1D2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12080"/>
            <a:ext cx="16916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Dezembro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276088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B2430"/>
                </a:solidFill>
                <a:latin typeface="Segoe UI"/>
              </a:rPr>
              <a:t>Entrega final (CP4) e defesa do sistema implantado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108192"/>
            <a:ext cx="11064240" cy="457200"/>
          </a:xfrm>
          <a:prstGeom prst="rect">
            <a:avLst/>
          </a:prstGeom>
          <a:solidFill>
            <a:srgbClr val="0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20877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Repositório: github.com/AlfredoVentura/Fluxo  ·  Prof. Marcus Colantoni  ·  UNIUBE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Fluxo — Sistema Bancário Digital  ·  Projeto de Software II  ·  UNIUBE  ·  Grupo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28232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A6B7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